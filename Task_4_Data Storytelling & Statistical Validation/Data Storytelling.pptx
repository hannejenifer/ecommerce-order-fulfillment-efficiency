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6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76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46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222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50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74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96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9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88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5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26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267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808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90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5259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085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404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717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3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 dirty="0">
                <a:solidFill>
                  <a:srgbClr val="1F3A5F"/>
                </a:solidFill>
              </a:rPr>
              <a:t>Impact of Delivery Delays on Customer Satisfaction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 Storytelling &amp; Statistical Validation</a:t>
            </a:r>
          </a:p>
          <a:p>
            <a:r>
              <a:rPr lang="en-IN" dirty="0"/>
              <a:t>Project: E-Commerce Order Fulfilment Efficiency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E3B8-5A9D-46B9-2338-B99D06A6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1F3A5F"/>
                </a:solidFill>
              </a:rPr>
              <a:t>Business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3EFCC-10C3-C6F3-744D-7A90DA47A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4" y="2468879"/>
            <a:ext cx="7205135" cy="387096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/>
              <a:t>Business Context</a:t>
            </a:r>
          </a:p>
          <a:p>
            <a:r>
              <a:rPr lang="en-US" sz="1800" dirty="0"/>
              <a:t>Delivery performance strongly influences customer satisfaction in e-commerce.</a:t>
            </a:r>
          </a:p>
          <a:p>
            <a:pPr marL="0" indent="0">
              <a:buNone/>
            </a:pPr>
            <a:r>
              <a:rPr lang="en-US" sz="1800" b="1" dirty="0"/>
              <a:t>Key Question</a:t>
            </a:r>
          </a:p>
          <a:p>
            <a:r>
              <a:rPr lang="en-US" sz="1800" dirty="0"/>
              <a:t>Do late deliveries significantly reduce customer review scores?</a:t>
            </a:r>
          </a:p>
          <a:p>
            <a:pPr marL="0" indent="0">
              <a:buNone/>
            </a:pPr>
            <a:r>
              <a:rPr lang="en-US" sz="1800" b="1" dirty="0"/>
              <a:t>Objective</a:t>
            </a:r>
          </a:p>
          <a:p>
            <a:r>
              <a:rPr lang="en-US" sz="1800" dirty="0"/>
              <a:t>Validate impact using statistical hypothesis testing.</a:t>
            </a:r>
          </a:p>
          <a:p>
            <a:pPr marL="0" indent="0">
              <a:buNone/>
            </a:pPr>
            <a:r>
              <a:rPr lang="en-US" sz="1800" b="1" dirty="0"/>
              <a:t>Business Impact</a:t>
            </a:r>
          </a:p>
          <a:p>
            <a:r>
              <a:rPr lang="en-US" sz="1800" dirty="0"/>
              <a:t>Lower ratings</a:t>
            </a:r>
          </a:p>
          <a:p>
            <a:r>
              <a:rPr lang="en-US" sz="1800" dirty="0"/>
              <a:t>Customer churn risk</a:t>
            </a:r>
          </a:p>
          <a:p>
            <a:r>
              <a:rPr lang="en-US" sz="1800" dirty="0"/>
              <a:t>Negative brand perception</a:t>
            </a:r>
          </a:p>
          <a:p>
            <a:r>
              <a:rPr lang="en-US" sz="1800" dirty="0"/>
              <a:t>Operational improvement opportunity</a:t>
            </a:r>
          </a:p>
        </p:txBody>
      </p:sp>
    </p:spTree>
    <p:extLst>
      <p:ext uri="{BB962C8B-B14F-4D97-AF65-F5344CB8AC3E}">
        <p14:creationId xmlns:p14="http://schemas.microsoft.com/office/powerpoint/2010/main" val="168893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1F3A5F"/>
                </a:solidFill>
              </a:rPr>
              <a:t>Dataset Overview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B7F40065-AD01-94AC-1D34-83861AD138F1}"/>
              </a:ext>
            </a:extLst>
          </p:cNvPr>
          <p:cNvSpPr/>
          <p:nvPr/>
        </p:nvSpPr>
        <p:spPr>
          <a:xfrm>
            <a:off x="1412240" y="2890520"/>
            <a:ext cx="1828800" cy="109728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solidFill>
                  <a:schemeClr val="bg1"/>
                </a:solidFill>
              </a:rPr>
              <a:t>Total Orders</a:t>
            </a:r>
          </a:p>
          <a:p>
            <a:pPr algn="ctr"/>
            <a:r>
              <a:rPr dirty="0">
                <a:solidFill>
                  <a:schemeClr val="bg1"/>
                </a:solidFill>
              </a:rPr>
              <a:t>96,353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5D89FFD6-6740-5E92-65F8-1801D831E502}"/>
              </a:ext>
            </a:extLst>
          </p:cNvPr>
          <p:cNvSpPr/>
          <p:nvPr/>
        </p:nvSpPr>
        <p:spPr>
          <a:xfrm>
            <a:off x="3698240" y="2890520"/>
            <a:ext cx="182880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Late Orders</a:t>
            </a:r>
          </a:p>
          <a:p>
            <a:pPr algn="ctr"/>
            <a:r>
              <a:rPr dirty="0"/>
              <a:t>6,409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B0F88134-CBF1-223B-231B-53CE4101335C}"/>
              </a:ext>
            </a:extLst>
          </p:cNvPr>
          <p:cNvSpPr/>
          <p:nvPr/>
        </p:nvSpPr>
        <p:spPr>
          <a:xfrm>
            <a:off x="5984240" y="2890520"/>
            <a:ext cx="1828800" cy="10972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On‑Time Orders</a:t>
            </a:r>
          </a:p>
          <a:p>
            <a:pPr algn="ctr"/>
            <a:r>
              <a:rPr dirty="0"/>
              <a:t>89,944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D8E8DA-95A6-3F95-9A95-CE0EB043D265}"/>
              </a:ext>
            </a:extLst>
          </p:cNvPr>
          <p:cNvSpPr txBox="1"/>
          <p:nvPr/>
        </p:nvSpPr>
        <p:spPr>
          <a:xfrm>
            <a:off x="1176865" y="4272951"/>
            <a:ext cx="67987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Dataset Facts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Late delivery rate: </a:t>
            </a:r>
            <a:r>
              <a:rPr lang="en-US" sz="2400" b="1" dirty="0"/>
              <a:t>6.6%</a:t>
            </a: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Analysis based on </a:t>
            </a:r>
            <a:r>
              <a:rPr lang="en-US" sz="2400" b="1" dirty="0"/>
              <a:t>96K delivered orders</a:t>
            </a: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Includes customer review ratings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1F3A5F"/>
                </a:solidFill>
              </a:rP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H0: </a:t>
            </a:r>
            <a:r>
              <a:rPr lang="en-IN" dirty="0"/>
              <a:t>No significant difference in ratings</a:t>
            </a:r>
            <a:endParaRPr dirty="0"/>
          </a:p>
          <a:p>
            <a:r>
              <a:rPr dirty="0"/>
              <a:t>H1: </a:t>
            </a:r>
            <a:r>
              <a:rPr lang="en-US" dirty="0"/>
              <a:t>Late deliveries have lower ratings</a:t>
            </a:r>
            <a:endParaRPr dirty="0"/>
          </a:p>
          <a:p>
            <a:r>
              <a:rPr dirty="0"/>
              <a:t>Test: Independent T-Test</a:t>
            </a:r>
          </a:p>
          <a:p>
            <a:r>
              <a:rPr lang="en-IN" dirty="0"/>
              <a:t>Significance level: </a:t>
            </a:r>
            <a:r>
              <a:rPr lang="en-IN" b="1" dirty="0"/>
              <a:t>0.05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1F3A5F"/>
                </a:solidFill>
              </a:rPr>
              <a:t>Key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83030" y="2926080"/>
            <a:ext cx="1828800" cy="10972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Late Delivery Rating</a:t>
            </a:r>
          </a:p>
          <a:p>
            <a:pPr algn="ctr"/>
            <a:r>
              <a:rPr dirty="0"/>
              <a:t>2.27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69030" y="2926080"/>
            <a:ext cx="1828800" cy="109728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On-Time Delivery Rating</a:t>
            </a:r>
          </a:p>
          <a:p>
            <a:pPr algn="ctr"/>
            <a:r>
              <a:rPr dirty="0"/>
              <a:t>4.29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55030" y="2926080"/>
            <a:ext cx="1828800" cy="109728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Rating Gap</a:t>
            </a:r>
            <a:endParaRPr b="1" dirty="0"/>
          </a:p>
          <a:p>
            <a:pPr algn="ctr"/>
            <a:r>
              <a:rPr dirty="0"/>
              <a:t>2.02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AC3E7-A766-6DFC-B297-C1CE51CB597F}"/>
              </a:ext>
            </a:extLst>
          </p:cNvPr>
          <p:cNvSpPr txBox="1"/>
          <p:nvPr/>
        </p:nvSpPr>
        <p:spPr>
          <a:xfrm>
            <a:off x="948690" y="4320540"/>
            <a:ext cx="73380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Insight: </a:t>
            </a:r>
          </a:p>
          <a:p>
            <a:r>
              <a:rPr lang="en-US" sz="2400" dirty="0"/>
              <a:t>On-time deliveries receive ~2 point higher ratings.</a:t>
            </a:r>
          </a:p>
          <a:p>
            <a:r>
              <a:rPr lang="en-US" sz="2400" b="1" dirty="0"/>
              <a:t>Statistical Result: </a:t>
            </a:r>
          </a:p>
          <a:p>
            <a:r>
              <a:rPr lang="en-US" sz="2400" dirty="0"/>
              <a:t>Difference is statistically significant (p &lt; 0.05).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D9E51-7125-706B-CF64-1F3FD1B6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1F3A5F"/>
                </a:solidFill>
              </a:rPr>
              <a:t>Statistical Validation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1405B-CA25-47CA-5258-5ECD2602807F}"/>
              </a:ext>
            </a:extLst>
          </p:cNvPr>
          <p:cNvSpPr txBox="1"/>
          <p:nvPr/>
        </p:nvSpPr>
        <p:spPr>
          <a:xfrm>
            <a:off x="1176865" y="2668044"/>
            <a:ext cx="67987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T-Statistic: </a:t>
            </a:r>
            <a:r>
              <a:rPr lang="en-US" sz="2800" b="1" dirty="0"/>
              <a:t>-132.07</a:t>
            </a:r>
            <a:br>
              <a:rPr lang="en-US" sz="2800" dirty="0"/>
            </a:br>
            <a:r>
              <a:rPr lang="en-US" sz="2800" dirty="0"/>
              <a:t>P-Value: </a:t>
            </a:r>
            <a:r>
              <a:rPr lang="en-US" sz="2800" b="1" dirty="0"/>
              <a:t>&lt; 0.0001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Decision: </a:t>
            </a:r>
            <a:r>
              <a:rPr lang="en-US" sz="2800" b="1" dirty="0"/>
              <a:t>Reject Null Hypothesis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Conclusion:</a:t>
            </a:r>
            <a:br>
              <a:rPr lang="en-US" sz="2800" dirty="0"/>
            </a:br>
            <a:r>
              <a:rPr lang="en-US" sz="2800" dirty="0"/>
              <a:t>Late deliveries significantly reduce ratings.</a:t>
            </a:r>
          </a:p>
        </p:txBody>
      </p:sp>
    </p:spTree>
    <p:extLst>
      <p:ext uri="{BB962C8B-B14F-4D97-AF65-F5344CB8AC3E}">
        <p14:creationId xmlns:p14="http://schemas.microsoft.com/office/powerpoint/2010/main" val="365775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1F3A5F"/>
                </a:solidFill>
              </a:rPr>
              <a:t>Key Insight Visualization</a:t>
            </a:r>
          </a:p>
        </p:txBody>
      </p:sp>
      <p:pic>
        <p:nvPicPr>
          <p:cNvPr id="3" name="Picture 2" descr="hypothesis_test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08" y="2675466"/>
            <a:ext cx="7369184" cy="32671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1F3A5F"/>
                </a:solidFill>
              </a:rP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Late deliveries damage customer experience</a:t>
            </a:r>
          </a:p>
          <a:p>
            <a:r>
              <a:rPr lang="en-US" dirty="0"/>
              <a:t>Delivery reliability drives satisfaction</a:t>
            </a:r>
          </a:p>
          <a:p>
            <a:r>
              <a:rPr lang="en-US" dirty="0"/>
              <a:t>Logistics efficiency impacts retention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1F3A5F"/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dirty="0"/>
              <a:t>Improve logistics</a:t>
            </a:r>
          </a:p>
          <a:p>
            <a:r>
              <a:rPr dirty="0"/>
              <a:t>Predict delays</a:t>
            </a:r>
          </a:p>
          <a:p>
            <a:r>
              <a:rPr dirty="0"/>
              <a:t>Notify customers</a:t>
            </a:r>
          </a:p>
          <a:p>
            <a:r>
              <a:rPr dirty="0"/>
              <a:t>Offer compensation</a:t>
            </a:r>
          </a:p>
          <a:p>
            <a:r>
              <a:rPr dirty="0"/>
              <a:t>Monitor partners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1F3A5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823210"/>
            <a:ext cx="6798736" cy="3111922"/>
          </a:xfrm>
        </p:spPr>
        <p:txBody>
          <a:bodyPr/>
          <a:lstStyle/>
          <a:p>
            <a:r>
              <a:rPr lang="en-US" dirty="0"/>
              <a:t>Late deliveries reduce ratings by </a:t>
            </a:r>
            <a:r>
              <a:rPr lang="en-US" b="1" dirty="0"/>
              <a:t>2.02 points</a:t>
            </a:r>
          </a:p>
          <a:p>
            <a:r>
              <a:rPr lang="en-US" dirty="0"/>
              <a:t>Result statistically significant (</a:t>
            </a:r>
            <a:r>
              <a:rPr lang="en-US" b="1" dirty="0"/>
              <a:t>p &lt; 0.05</a:t>
            </a:r>
            <a:r>
              <a:rPr lang="en-US" dirty="0"/>
              <a:t>)</a:t>
            </a:r>
          </a:p>
          <a:p>
            <a:r>
              <a:rPr lang="en-US" dirty="0"/>
              <a:t>Delivery performance directly affects satisfaction</a:t>
            </a:r>
          </a:p>
          <a:p>
            <a:r>
              <a:rPr lang="en-US" dirty="0"/>
              <a:t>Improving logistics can improve retention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238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Impact of Delivery Delays on Customer Satisfaction</vt:lpstr>
      <vt:lpstr>Business Problem</vt:lpstr>
      <vt:lpstr>Dataset Overview</vt:lpstr>
      <vt:lpstr>Hypothesis Testing</vt:lpstr>
      <vt:lpstr>Key Results</vt:lpstr>
      <vt:lpstr>Statistical Validation</vt:lpstr>
      <vt:lpstr>Key Insight Visualization</vt:lpstr>
      <vt:lpstr>Business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Hanne Jenifer</cp:lastModifiedBy>
  <cp:revision>4</cp:revision>
  <dcterms:created xsi:type="dcterms:W3CDTF">2013-01-27T09:14:16Z</dcterms:created>
  <dcterms:modified xsi:type="dcterms:W3CDTF">2026-03-26T08:04:31Z</dcterms:modified>
  <cp:category/>
</cp:coreProperties>
</file>